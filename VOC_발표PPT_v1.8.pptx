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평균점수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정상 VOC</c:v>
                  </c:pt>
                  <c:pt idx="1">
                    <c:v>복합 불만</c:v>
                  </c:pt>
                  <c:pt idx="2">
                    <c:v>오타·비문</c:v>
                  </c:pt>
                  <c:pt idx="3">
                    <c:v>모호한 질문</c:v>
                  </c:pt>
                  <c:pt idx="4">
                    <c:v>데이터 없음</c:v>
                  </c:pt>
                  <c:pt idx="5">
                    <c:v>장애 상황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91.3</c:v>
                </c:pt>
                <c:pt idx="1">
                  <c:v>85.3</c:v>
                </c:pt>
                <c:pt idx="2">
                  <c:v>79</c:v>
                </c:pt>
                <c:pt idx="3">
                  <c:v>68.7</c:v>
                </c:pt>
                <c:pt idx="4">
                  <c:v>65</c:v>
                </c:pt>
                <c:pt idx="5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-457200"/>
            <a:ext cx="1828800" cy="1828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3840480"/>
            <a:ext cx="1280160" cy="1280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840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QA PLATFORM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VOC_Improve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에이전트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품질검증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발표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2286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944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구성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182112"/>
            <a:ext cx="6217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18211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김용균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32095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시스템 설계 · Agent 개발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584448"/>
            <a:ext cx="6217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5844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백성현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" y="36118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자동화 · LLM Judge 구현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6217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986784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박선영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40142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· 대시보드 · 보고서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389120"/>
            <a:ext cx="621792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38912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유현주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44165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설계 · 결함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411480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5029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1069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테스트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411480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5029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PASS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1069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결과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947672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3911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846320" y="26060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결함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1947672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039112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95160" y="26060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점수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483864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75304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46320" y="414223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95160" y="3483864"/>
            <a:ext cx="1993392" cy="1353312"/>
          </a:xfrm>
          <a:prstGeom prst="rect">
            <a:avLst/>
          </a:prstGeom>
          <a:solidFill>
            <a:srgbClr val="111C4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575304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95160" y="414223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D22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평가일시: 2026.07.16  13:00~  |  동료평가 70점 + 교수평가 30점  |  4조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0D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목차 &amp; 평가기준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 · 동료70 + 교수30 = 100점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4572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15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119786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 및 배경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45336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45336"/>
            <a:ext cx="4572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545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162763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 &amp; 파일 구성도 (VS Code)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75104"/>
            <a:ext cx="457200" cy="365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2057400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Agent 단계별 실행 — 실시간 데모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04872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4048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404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248716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독립 Judge 평가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34640"/>
            <a:ext cx="4572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2916936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10가지 유형 테스트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264408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64408"/>
            <a:ext cx="457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264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" y="334670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70건 정량 결과 &amp; 품질 대시보드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94176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94176"/>
            <a:ext cx="457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694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" y="377647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결함관리 — 5건 BUG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123944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23944"/>
            <a:ext cx="457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123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" y="4206240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 산출물 &amp; 배포 판정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553712"/>
            <a:ext cx="4160520" cy="365760"/>
          </a:xfrm>
          <a:prstGeom prst="rect">
            <a:avLst/>
          </a:prstGeom>
          <a:solidFill>
            <a:srgbClr val="111C40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553712"/>
            <a:ext cx="4572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553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6384" y="463600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Q&amp;A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822960"/>
            <a:ext cx="41605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822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동료평가 (70점) — 항목당 7점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1143000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117957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프로젝트목적 이해도 7점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1380744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141732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시스템 동작 방식 이해 7점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1618488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1" name="Text 49"/>
          <p:cNvSpPr/>
          <p:nvPr/>
        </p:nvSpPr>
        <p:spPr>
          <a:xfrm>
            <a:off x="4773168" y="165506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LLM 역할 구분 능력 7점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1856232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3" name="Text 51"/>
          <p:cNvSpPr/>
          <p:nvPr/>
        </p:nvSpPr>
        <p:spPr>
          <a:xfrm>
            <a:off x="4773168" y="189280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멀티LLM 비교평가 능력 7점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2093976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213055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테스트 결과 이해도 7점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2331720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7" name="Text 55"/>
          <p:cNvSpPr/>
          <p:nvPr/>
        </p:nvSpPr>
        <p:spPr>
          <a:xfrm>
            <a:off x="4773168" y="236829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결함 및 장애관리 이해 7점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09160" y="2569464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9" name="Text 57"/>
          <p:cNvSpPr/>
          <p:nvPr/>
        </p:nvSpPr>
        <p:spPr>
          <a:xfrm>
            <a:off x="4773168" y="26060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보고서 및 증적 이해 7점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09160" y="2807208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61" name="Text 59"/>
          <p:cNvSpPr/>
          <p:nvPr/>
        </p:nvSpPr>
        <p:spPr>
          <a:xfrm>
            <a:off x="4773168" y="28437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발표구성 및 전달력 7점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09160" y="3044952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63" name="Text 61"/>
          <p:cNvSpPr/>
          <p:nvPr/>
        </p:nvSpPr>
        <p:spPr>
          <a:xfrm>
            <a:off x="4773168" y="3081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팀 협업 및 분담이해 7점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09160" y="3282696"/>
            <a:ext cx="4160520" cy="219456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65" name="Text 63"/>
          <p:cNvSpPr/>
          <p:nvPr/>
        </p:nvSpPr>
        <p:spPr>
          <a:xfrm>
            <a:off x="4773168" y="331927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VOC 분석 이해 7점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09160" y="3584448"/>
            <a:ext cx="41605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709160" y="3584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교수평가 (30점) — 항목당 3점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09160" y="3904488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69" name="Text 67"/>
          <p:cNvSpPr/>
          <p:nvPr/>
        </p:nvSpPr>
        <p:spPr>
          <a:xfrm>
            <a:off x="4773168" y="3922776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① 시스템 기능 구현 완성도 3점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09160" y="4059936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71" name="Text 69"/>
          <p:cNvSpPr/>
          <p:nvPr/>
        </p:nvSpPr>
        <p:spPr>
          <a:xfrm>
            <a:off x="4773168" y="4078224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② 코드 구현 및 실행 능력 3점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709160" y="4215384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73" name="Text 71"/>
          <p:cNvSpPr/>
          <p:nvPr/>
        </p:nvSpPr>
        <p:spPr>
          <a:xfrm>
            <a:off x="4773168" y="4233672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③ LLM 활용 능력 3점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4370832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75" name="Text 73"/>
          <p:cNvSpPr/>
          <p:nvPr/>
        </p:nvSpPr>
        <p:spPr>
          <a:xfrm>
            <a:off x="4773168" y="4389120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④ 다중 LLM 비교능력 3점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09160" y="4526280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77" name="Text 75"/>
          <p:cNvSpPr/>
          <p:nvPr/>
        </p:nvSpPr>
        <p:spPr>
          <a:xfrm>
            <a:off x="4773168" y="4544568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⑤ 테스트 설계 및 결과분석 3점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09160" y="4681728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79" name="Text 77"/>
          <p:cNvSpPr/>
          <p:nvPr/>
        </p:nvSpPr>
        <p:spPr>
          <a:xfrm>
            <a:off x="4773168" y="4700016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⑥ 결함 관리 능력 3점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709160" y="4837176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81" name="Text 79"/>
          <p:cNvSpPr/>
          <p:nvPr/>
        </p:nvSpPr>
        <p:spPr>
          <a:xfrm>
            <a:off x="4773168" y="4855464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⑦ 데이터 처리 및 연계능력 3점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709160" y="4992624"/>
            <a:ext cx="4160520" cy="146304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83" name="Text 81"/>
          <p:cNvSpPr/>
          <p:nvPr/>
        </p:nvSpPr>
        <p:spPr>
          <a:xfrm>
            <a:off x="4773168" y="5010912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⑧ 독립평가(Judge) 이해 3점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 &amp; 배경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동료① 프로젝트목적 이해도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교수① 시스템기능 완성도 3점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11556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프로젝트인가?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17320"/>
            <a:ext cx="54864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5087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1490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수동 처리 한계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불만 분류·분석·개선안 작성을 사람이 직접 → 시간·비용 과다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77440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46888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품질 검증 부재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2761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응답의 정확성·안전성을 자동으로 검증할 체계 없음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37560"/>
            <a:ext cx="54864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42900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4672" y="3410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개선 연결 없음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3721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→ 정책 개선까지 자동화 파이프라인 미구축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1155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해결책: VOC_Improve v1.8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4114800" cy="749808"/>
          </a:xfrm>
          <a:prstGeom prst="rect">
            <a:avLst/>
          </a:prstGeom>
          <a:solidFill>
            <a:srgbClr val="060D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417320"/>
            <a:ext cx="54864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64608" y="1490472"/>
            <a:ext cx="292608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149047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AI Agent 파이프라인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181965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Interpreter→Improver 자동 VOC 분석·정책 개선안 생성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313432"/>
            <a:ext cx="4114800" cy="749808"/>
          </a:xfrm>
          <a:prstGeom prst="rect">
            <a:avLst/>
          </a:prstGeom>
          <a:solidFill>
            <a:srgbClr val="060D2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13432"/>
            <a:ext cx="54864" cy="7498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4864608" y="2386584"/>
            <a:ext cx="292608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38658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70건 QA 자동화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27157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기반 6개 유형 20개→70개 시나리오 자동 검증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209544"/>
            <a:ext cx="4114800" cy="749808"/>
          </a:xfrm>
          <a:prstGeom prst="rect">
            <a:avLst/>
          </a:prstGeom>
          <a:solidFill>
            <a:srgbClr val="060D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209544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Shape 40"/>
          <p:cNvSpPr/>
          <p:nvPr/>
        </p:nvSpPr>
        <p:spPr>
          <a:xfrm>
            <a:off x="4864608" y="3282696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328269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독립 Judge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61188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외부 claude-sonnet-4-6으로 객관적 판정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4105656"/>
            <a:ext cx="4114800" cy="749808"/>
          </a:xfrm>
          <a:prstGeom prst="rect">
            <a:avLst/>
          </a:prstGeom>
          <a:solidFill>
            <a:srgbClr val="060D2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105656"/>
            <a:ext cx="54864" cy="7498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8" name="Shape 46"/>
          <p:cNvSpPr/>
          <p:nvPr/>
        </p:nvSpPr>
        <p:spPr>
          <a:xfrm>
            <a:off x="4864608" y="4178808"/>
            <a:ext cx="292608" cy="2926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417880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450799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86.4점·92.9% 성공률 기반 배포 가능 여부 자동 판단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0D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 &amp; 파일 구성도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직접 확인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동료② 시스템동작방식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교수② 코드구현 실행능력 3점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078992"/>
            <a:ext cx="1298448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188720"/>
            <a:ext cx="896112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의도·키워드 해석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18013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1907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9072" y="1078992"/>
            <a:ext cx="1298448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1188720"/>
            <a:ext cx="896112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1907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1907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근거 검색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0" y="18013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8211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2112" y="1078992"/>
            <a:ext cx="1298448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1188720"/>
            <a:ext cx="896112" cy="23774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8211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8211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요약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18013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4515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1078992"/>
            <a:ext cx="129844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1188720"/>
            <a:ext cx="896112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4515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평가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0" y="18013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0819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08192" y="1078992"/>
            <a:ext cx="129844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1188720"/>
            <a:ext cx="896112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0819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10819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검토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06640" y="180136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571232" y="1078992"/>
            <a:ext cx="1298448" cy="1371600"/>
          </a:xfrm>
          <a:prstGeom prst="rect">
            <a:avLst/>
          </a:prstGeom>
          <a:solidFill>
            <a:srgbClr val="111C4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1078992"/>
            <a:ext cx="129844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1188720"/>
            <a:ext cx="896112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1188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71232" y="149047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571232" y="1764792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개선안 생성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74320" y="260604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파일 구성도 (VS Code 직접 확인)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29077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VOC_IMPROVE_PHASE6_REALTIME_EVALUATION_V1_8/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74320" y="3200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agents/  (interpreter · retriever · summarizer · evaluator · critic · improver)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74320" y="34930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quality_diagnosis/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74320" y="378561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reports/  (deployment_decision.md · defect_report.md · llm_judge_result.csv · test_result.csv)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" y="407822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llm_judge.py · judge_cases.json · test_cases.json ★ QA 엔진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74320" y="43708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llm_wrappers/  (Anthropic 독립 Judge — claude-sonnet-4-6)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app.py (Streamlit) · voc.csv (VOC DB) · grpc_server.py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29200" y="2606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LLM 교차검증 흐름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0" y="2907792"/>
            <a:ext cx="3840480" cy="329184"/>
          </a:xfrm>
          <a:prstGeom prst="rect">
            <a:avLst/>
          </a:prstGeom>
          <a:solidFill>
            <a:srgbClr val="111C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2907792"/>
            <a:ext cx="54864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3" name="Text 61"/>
          <p:cNvSpPr/>
          <p:nvPr/>
        </p:nvSpPr>
        <p:spPr>
          <a:xfrm>
            <a:off x="5138928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테스트 데이터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20840" y="322783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0" y="3319272"/>
            <a:ext cx="3840480" cy="329184"/>
          </a:xfrm>
          <a:prstGeom prst="rect">
            <a:avLst/>
          </a:prstGeom>
          <a:solidFill>
            <a:srgbClr val="111C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3319272"/>
            <a:ext cx="54864" cy="3291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5138928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요약·개선안 생성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20840" y="363931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029200" y="3730752"/>
            <a:ext cx="3840480" cy="329184"/>
          </a:xfrm>
          <a:prstGeom prst="rect">
            <a:avLst/>
          </a:prstGeom>
          <a:solidFill>
            <a:srgbClr val="111C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3730752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5138928" y="3794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Evaluator·Critic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20840" y="405079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029200" y="4142232"/>
            <a:ext cx="3840480" cy="329184"/>
          </a:xfrm>
          <a:prstGeom prst="rect">
            <a:avLst/>
          </a:prstGeom>
          <a:solidFill>
            <a:srgbClr val="111C4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4142232"/>
            <a:ext cx="5486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5" name="Text 73"/>
          <p:cNvSpPr/>
          <p:nvPr/>
        </p:nvSpPr>
        <p:spPr>
          <a:xfrm>
            <a:off x="5138928" y="4206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독립 LLM Judge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720840" y="446227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029200" y="4553712"/>
            <a:ext cx="3840480" cy="329184"/>
          </a:xfrm>
          <a:prstGeom prst="rect">
            <a:avLst/>
          </a:prstGeom>
          <a:solidFill>
            <a:srgbClr val="111C40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0" y="4553712"/>
            <a:ext cx="54864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9" name="Text 77"/>
          <p:cNvSpPr/>
          <p:nvPr/>
        </p:nvSpPr>
        <p:spPr>
          <a:xfrm>
            <a:off x="5138928" y="4617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점수·PASS/FAIL·평가 근거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Agent 단계별 실행 — 실시간 데모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실제 앱 화면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동료② 시스템동작방식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동료⑩ VOC분석이해 7점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교수③ LLM활용능력 3점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4114800" cy="3767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17720" y="1078992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LIVE — 실시간 Agent 실행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1371600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1371600"/>
            <a:ext cx="54864" cy="521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4727448" y="1408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577840" y="13990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27448" y="16459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발화 의도·키워드 해석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오탈자 보정, 복합·모호 분류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17720" y="1984248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17720" y="1984248"/>
            <a:ext cx="54864" cy="5212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4727448" y="202082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577840" y="20116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27448" y="22585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voc.csv 유사 케이스 검색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관련성 스코어링 상위 5건 매칭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17720" y="2596896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17720" y="2596896"/>
            <a:ext cx="54864" cy="5212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4727448" y="263347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77840" y="26243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27448" y="28712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근거 맥락 요약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추정 및 한계 명시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17720" y="3209544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17720" y="3209544"/>
            <a:ext cx="54864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4727448" y="324612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577840" y="32369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727448" y="34838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0-100점 품질 점수 산정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기준 충족 여부 체크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17720" y="3822192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17720" y="3822192"/>
            <a:ext cx="54864" cy="5212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4"/>
          <p:cNvSpPr/>
          <p:nvPr/>
        </p:nvSpPr>
        <p:spPr>
          <a:xfrm>
            <a:off x="4727448" y="385876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77840" y="38496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727448" y="409651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위험·누락·모순 탐지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 플래그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17720" y="4434840"/>
            <a:ext cx="42519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17720" y="4434840"/>
            <a:ext cx="54864" cy="521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4727448" y="447141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577840" y="446227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727448" y="470916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즉시·단기·중기 개선안 생성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안내문 최종 출력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0D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독립 LLM Judge 평가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독립 평가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동료③ LLM역할구분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동료④ 멀티LLM비교 7점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교수④ 다중LLM비교능력 3점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9808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교수⑧ 독립평가Judge이해 3점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4572000" cy="3767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74920" y="10789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Judge 실행 결과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13533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claude-sonnet-4-6  |  5개 케이스 독립 평가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74920" y="1627632"/>
            <a:ext cx="3794760" cy="530352"/>
          </a:xfrm>
          <a:prstGeom prst="rect">
            <a:avLst/>
          </a:prstGeom>
          <a:solidFill>
            <a:srgbClr val="111C40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1682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JUDGE-001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1682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79점 PASS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6636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정확성21 요약16 개선안14 유용성15 안전성13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74920" y="2267712"/>
            <a:ext cx="3794760" cy="530352"/>
          </a:xfrm>
          <a:prstGeom prst="rect">
            <a:avLst/>
          </a:prstGeom>
          <a:solidFill>
            <a:srgbClr val="111C4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2322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JUDGE-002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2648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61점 FAIL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정확성14 요약10 개선안13 유용성11 안전성13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74920" y="2907792"/>
            <a:ext cx="3794760" cy="530352"/>
          </a:xfrm>
          <a:prstGeom prst="rect">
            <a:avLst/>
          </a:prstGeom>
          <a:solidFill>
            <a:srgbClr val="111C4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29626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JUDGE-003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26480" y="29626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69점 FAIL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16636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정확성18 요약15 개선안12 유용성10 안전성14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74920" y="3547872"/>
            <a:ext cx="3794760" cy="530352"/>
          </a:xfrm>
          <a:prstGeom prst="rect">
            <a:avLst/>
          </a:prstGeom>
          <a:solidFill>
            <a:srgbClr val="111C40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36027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JUDGE-004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26480" y="3602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71점 PASS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166360" y="3840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정확성18 요약15 개선안12 유용성12 안전성14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74920" y="4187952"/>
            <a:ext cx="3794760" cy="530352"/>
          </a:xfrm>
          <a:prstGeom prst="rect">
            <a:avLst/>
          </a:prstGeom>
          <a:solidFill>
            <a:srgbClr val="111C4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0" y="42428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JUDGE-005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26480" y="42428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69점 FAIL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66360" y="4480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정확성18 요약14 개선안12 유용성12 안전성13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74920" y="4828032"/>
            <a:ext cx="3794760" cy="201168"/>
          </a:xfrm>
          <a:prstGeom prst="rect">
            <a:avLst/>
          </a:prstGeom>
          <a:solidFill>
            <a:srgbClr val="0F205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02352" y="4846320"/>
            <a:ext cx="3730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69.8점  |  PASS 2/5건  |  생성자(OpenAI)≠평가자(Anthropic) 분리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70건 테스트 정량 결과 &amp; 대시보드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Results · 실제 화면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동료⑤ 테스트결과이해도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교수⑤ 테스트설계·결과분석 3점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135331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테스트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3736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078992"/>
            <a:ext cx="135331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78992"/>
            <a:ext cx="135331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0040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078992"/>
            <a:ext cx="135331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6344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점수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078992"/>
            <a:ext cx="135331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2648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성공률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89520" y="1078992"/>
            <a:ext cx="1353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1078992"/>
            <a:ext cx="135331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1133856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589520" y="159105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57400"/>
            <a:ext cx="4754880" cy="28803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257800" y="20574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결과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257800" y="2359152"/>
            <a:ext cx="160020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5"/>
          <p:cNvSpPr/>
          <p:nvPr/>
        </p:nvSpPr>
        <p:spPr>
          <a:xfrm>
            <a:off x="5257800" y="23591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858000" y="2359152"/>
            <a:ext cx="50292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23591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360920" y="2359152"/>
            <a:ext cx="50292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39"/>
          <p:cNvSpPr/>
          <p:nvPr/>
        </p:nvSpPr>
        <p:spPr>
          <a:xfrm>
            <a:off x="7360920" y="23591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863840" y="2359152"/>
            <a:ext cx="64008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1"/>
          <p:cNvSpPr/>
          <p:nvPr/>
        </p:nvSpPr>
        <p:spPr>
          <a:xfrm>
            <a:off x="7863840" y="2359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평균점수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503920" y="2359152"/>
            <a:ext cx="64008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Text 43"/>
          <p:cNvSpPr/>
          <p:nvPr/>
        </p:nvSpPr>
        <p:spPr>
          <a:xfrm>
            <a:off x="8503920" y="2359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성공률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257800" y="2596896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5"/>
          <p:cNvSpPr/>
          <p:nvPr/>
        </p:nvSpPr>
        <p:spPr>
          <a:xfrm>
            <a:off x="5257800" y="2660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VOC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858000" y="26609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360920" y="26609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7863840" y="2660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503920" y="2660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257800" y="2944368"/>
            <a:ext cx="4572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/>
          <p:nvPr/>
        </p:nvSpPr>
        <p:spPr>
          <a:xfrm>
            <a:off x="5257800" y="3008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불만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858000" y="3008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360920" y="3008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7863840" y="3008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8503920" y="3008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5257800" y="3291840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7"/>
          <p:cNvSpPr/>
          <p:nvPr/>
        </p:nvSpPr>
        <p:spPr>
          <a:xfrm>
            <a:off x="5257800" y="33558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오타·비문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6858000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7360920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7863840" y="3355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8503920" y="3355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5257800" y="3639312"/>
            <a:ext cx="4572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/>
          <p:nvPr/>
        </p:nvSpPr>
        <p:spPr>
          <a:xfrm>
            <a:off x="5257800" y="3703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모호한 질문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6858000" y="3703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7360920" y="3703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7863840" y="3703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8503920" y="3703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5257800" y="3986784"/>
            <a:ext cx="4572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69"/>
          <p:cNvSpPr/>
          <p:nvPr/>
        </p:nvSpPr>
        <p:spPr>
          <a:xfrm>
            <a:off x="5257800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없음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6858000" y="4050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7360920" y="4050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7863840" y="4050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8503920" y="4050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5257800" y="4334256"/>
            <a:ext cx="4572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/>
          <p:nvPr/>
        </p:nvSpPr>
        <p:spPr>
          <a:xfrm>
            <a:off x="5257800" y="43982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상황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6858000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7360920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81" name="Text 78"/>
          <p:cNvSpPr/>
          <p:nvPr/>
        </p:nvSpPr>
        <p:spPr>
          <a:xfrm>
            <a:off x="7863840" y="43982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82" name="Text 79"/>
          <p:cNvSpPr/>
          <p:nvPr/>
        </p:nvSpPr>
        <p:spPr>
          <a:xfrm>
            <a:off x="8503920" y="43982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graphicFrame>
        <p:nvGraphicFramePr>
          <p:cNvPr id="83" name="Chart 0" descr=""/>
          <p:cNvGraphicFramePr/>
          <p:nvPr/>
        </p:nvGraphicFramePr>
        <p:xfrm>
          <a:off x="5257800" y="4553712"/>
          <a:ext cx="3639312" cy="384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4" name="Text 80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60D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관리 내역 — 5건 BUG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Management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동료⑥ 결함·장애관리이해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교수⑥ 결함관리능력 3점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3200400" cy="37673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0" y="1078992"/>
            <a:ext cx="2560320" cy="1261872"/>
          </a:xfrm>
          <a:prstGeom prst="rect">
            <a:avLst/>
          </a:prstGeom>
          <a:solidFill>
            <a:srgbClr val="111C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0" y="1078992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1"/>
          <p:cNvSpPr/>
          <p:nvPr/>
        </p:nvSpPr>
        <p:spPr>
          <a:xfrm>
            <a:off x="3749040" y="1170432"/>
            <a:ext cx="658368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1170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443984" y="1170432"/>
            <a:ext cx="530352" cy="219456"/>
          </a:xfrm>
          <a:prstGeom prst="rect">
            <a:avLst/>
          </a:prstGeom>
          <a:solidFill>
            <a:srgbClr val="111C40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43984" y="11704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0" y="1188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4904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모호한 주문 문의 품질 기준 미충족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749040" y="18653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필수 출력과 근거 보강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0" y="2468880"/>
            <a:ext cx="2560320" cy="1261872"/>
          </a:xfrm>
          <a:prstGeom prst="rect">
            <a:avLst/>
          </a:prstGeom>
          <a:solidFill>
            <a:srgbClr val="111C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0" y="246888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9040" y="2560320"/>
            <a:ext cx="658368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3749040" y="2560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443984" y="2560320"/>
            <a:ext cx="530352" cy="219456"/>
          </a:xfrm>
          <a:prstGeom prst="rect">
            <a:avLst/>
          </a:prstGeom>
          <a:solidFill>
            <a:srgbClr val="111C40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43984" y="25603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29200" y="2578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TC-15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749040" y="28529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VOC 유형(홀로그램) 미처리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749040" y="32552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필수 출력과 근거 보강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0" y="3858768"/>
            <a:ext cx="2560320" cy="1261872"/>
          </a:xfrm>
          <a:prstGeom prst="rect">
            <a:avLst/>
          </a:prstGeom>
          <a:solidFill>
            <a:srgbClr val="111C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657600" y="3858768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29"/>
          <p:cNvSpPr/>
          <p:nvPr/>
        </p:nvSpPr>
        <p:spPr>
          <a:xfrm>
            <a:off x="3749040" y="3950208"/>
            <a:ext cx="658368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3749040" y="3950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BUG-016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443984" y="3950208"/>
            <a:ext cx="530352" cy="219456"/>
          </a:xfrm>
          <a:prstGeom prst="rect">
            <a:avLst/>
          </a:prstGeom>
          <a:solidFill>
            <a:srgbClr val="111C40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43984" y="39502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29200" y="39684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TC-16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749040" y="42428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VOC 유형(메타버스) 미처리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749040" y="4645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필수 출력과 근거 보강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446520" y="1078992"/>
            <a:ext cx="2560320" cy="1261872"/>
          </a:xfrm>
          <a:prstGeom prst="rect">
            <a:avLst/>
          </a:prstGeom>
          <a:solidFill>
            <a:srgbClr val="111C4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46520" y="1078992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Shape 38"/>
          <p:cNvSpPr/>
          <p:nvPr/>
        </p:nvSpPr>
        <p:spPr>
          <a:xfrm>
            <a:off x="6537960" y="1170432"/>
            <a:ext cx="65836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39"/>
          <p:cNvSpPr/>
          <p:nvPr/>
        </p:nvSpPr>
        <p:spPr>
          <a:xfrm>
            <a:off x="6537960" y="1170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BUG-019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32904" y="1170432"/>
            <a:ext cx="530352" cy="219456"/>
          </a:xfrm>
          <a:prstGeom prst="rect">
            <a:avLst/>
          </a:prstGeom>
          <a:solidFill>
            <a:srgbClr val="111C40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32904" y="11704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818120" y="1188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TC-19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53796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중단 오류 안내 미흡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537960" y="18653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필수 출력과 근거 보강 후 재검증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46520" y="2468880"/>
            <a:ext cx="2560320" cy="1261872"/>
          </a:xfrm>
          <a:prstGeom prst="rect">
            <a:avLst/>
          </a:prstGeom>
          <a:solidFill>
            <a:srgbClr val="111C4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46520" y="246888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Shape 47"/>
          <p:cNvSpPr/>
          <p:nvPr/>
        </p:nvSpPr>
        <p:spPr>
          <a:xfrm>
            <a:off x="6537960" y="2560320"/>
            <a:ext cx="65836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6537960" y="2560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BUG-020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7232904" y="2560320"/>
            <a:ext cx="530352" cy="219456"/>
          </a:xfrm>
          <a:prstGeom prst="rect">
            <a:avLst/>
          </a:prstGeom>
          <a:solidFill>
            <a:srgbClr val="111C40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32904" y="25603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818120" y="25786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TC-20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6537960" y="28529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파일 누락 오류 안내 미흡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6537960" y="32552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필수 출력과 근거 보강 후 재검증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657600" y="4370832"/>
            <a:ext cx="5349240" cy="475488"/>
          </a:xfrm>
          <a:prstGeom prst="rect">
            <a:avLst/>
          </a:prstGeom>
          <a:solidFill>
            <a:srgbClr val="0F205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749040" y="44074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요약: Medium 3건 (BUG-011·015·016)  |  High 2건 (BUG-019·020)  |  전건 개선방향 수립 완료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 산출물 &amp; 배포 판정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Release Gate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동료⑦ 보고서·증적이해 7점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교수⑨ 산출물·증적관리 3점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0" y="777240"/>
            <a:ext cx="2194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교수⑩ 배포·운영준비도 3점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8992"/>
            <a:ext cx="5029200" cy="37673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32120" y="1078992"/>
            <a:ext cx="3337560" cy="621792"/>
          </a:xfrm>
          <a:prstGeom prst="rect">
            <a:avLst/>
          </a:prstGeom>
          <a:solidFill>
            <a:srgbClr val="060D2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113385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08192" y="1133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배포 가능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08192" y="14264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86.4점 · 성공률 92.9% · Critical 0건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1847088"/>
            <a:ext cx="333756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1847088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5641848" y="19842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점수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19659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32120" y="2505456"/>
            <a:ext cx="333756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2505456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5641848" y="26426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건수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03720" y="26243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65/70 (92.9%)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532120" y="3163824"/>
            <a:ext cx="333756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32120" y="3163824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5641848" y="33009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03720" y="32826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 ✅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532120" y="3822192"/>
            <a:ext cx="333756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32120" y="3822192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5641848" y="3959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상태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03720" y="39410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 개선 중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532120" y="453542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산출물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32120" y="4754880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PDF·Excel·CSV·JSON·TXT·XML·HTML · deployment_decision.md · defect_report.md · llm_judge_result.csv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11E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3657600"/>
            <a:ext cx="2011680" cy="20116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144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274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Q&amp;A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VOC_Improve v1.8 — 70건 테스트 65 PASS / 5 FAIL — Critical 0건 — 조건부 배포 가능 (86.4점)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81328"/>
            <a:ext cx="2788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572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1572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70건 QA 자동화 완성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938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유형 70건 시나리오 자동 실행·채점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14813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481328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328416" y="1572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21608" y="1572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 PASS 달성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1938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65건 PASS · Critical Failure 0건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14813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481328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1572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65976" y="1572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독립 Judge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72784" y="1938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생성자(OpenAI)≠평가자(Anthropic) 분리 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529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52928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9443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 결함 원인 규명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33101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심각도·원인·개선방향 전건 분석 완료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18688" y="28529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2852928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328416" y="29443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21608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다형식 증적 완비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33101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PDF·CSV·HTML·MD·JSON 자동 생성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2852928"/>
            <a:ext cx="2788920" cy="1188720"/>
          </a:xfrm>
          <a:prstGeom prst="rect">
            <a:avLst/>
          </a:prstGeom>
          <a:solidFill>
            <a:srgbClr val="111C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2852928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29443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65976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배포 권고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33101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86.4점·장애 템플릿 보강 후 90점 목표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4663440"/>
            <a:ext cx="1280160" cy="347472"/>
          </a:xfrm>
          <a:prstGeom prst="rect">
            <a:avLst/>
          </a:prstGeom>
          <a:solidFill>
            <a:srgbClr val="111C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681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4592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23160" y="4663440"/>
            <a:ext cx="1280160" cy="347472"/>
          </a:xfrm>
          <a:prstGeom prst="rect">
            <a:avLst/>
          </a:prstGeom>
          <a:solidFill>
            <a:srgbClr val="111C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4681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1546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931920" y="4663440"/>
            <a:ext cx="1280160" cy="347472"/>
          </a:xfrm>
          <a:prstGeom prst="rect">
            <a:avLst/>
          </a:prstGeom>
          <a:solidFill>
            <a:srgbClr val="111C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4681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66344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평균점수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40680" y="4663440"/>
            <a:ext cx="1280160" cy="347472"/>
          </a:xfrm>
          <a:prstGeom prst="rect">
            <a:avLst/>
          </a:prstGeom>
          <a:solidFill>
            <a:srgbClr val="111C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4681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7220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성공률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49440" y="4663440"/>
            <a:ext cx="1280160" cy="347472"/>
          </a:xfrm>
          <a:prstGeom prst="rect">
            <a:avLst/>
          </a:prstGeom>
          <a:solidFill>
            <a:srgbClr val="111C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4681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68096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solidFill>
            <a:srgbClr val="111C4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4조  |  김용균 · 백성현 · 박선영 · 유현주  |  VOC_Improve v1.8  |  2026.07.16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96528" y="4901184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2026-07-16T02:58:16Z</dcterms:created>
  <dcterms:modified xsi:type="dcterms:W3CDTF">2026-07-16T02:58:16Z</dcterms:modified>
</cp:coreProperties>
</file>